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755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Mean Daily Category Cost by Retailer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Aldi</c:v>
                </c:pt>
              </c:strCache>
            </c:strRef>
          </c:tx>
          <c:spPr>
            <a:solidFill>
              <a:srgbClr val="00529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Meat</c:v>
                </c:pt>
                <c:pt idx="1">
                  <c:v>Dairy</c:v>
                </c:pt>
                <c:pt idx="2">
                  <c:v>Pantry</c:v>
                </c:pt>
                <c:pt idx="3">
                  <c:v>Produce</c:v>
                </c:pt>
                <c:pt idx="4">
                  <c:v>Household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12.5</c:v>
                </c:pt>
                <c:pt idx="1">
                  <c:v>10</c:v>
                </c:pt>
                <c:pt idx="2">
                  <c:v>5.3</c:v>
                </c:pt>
                <c:pt idx="3">
                  <c:v>5.2</c:v>
                </c:pt>
                <c:pt idx="4">
                  <c:v>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D4-4600-9177-F80E15A066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Publix</c:v>
                </c:pt>
              </c:strCache>
            </c:strRef>
          </c:tx>
          <c:spPr>
            <a:solidFill>
              <a:srgbClr val="3B813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Meat</c:v>
                </c:pt>
                <c:pt idx="1">
                  <c:v>Dairy</c:v>
                </c:pt>
                <c:pt idx="2">
                  <c:v>Pantry</c:v>
                </c:pt>
                <c:pt idx="3">
                  <c:v>Produce</c:v>
                </c:pt>
                <c:pt idx="4">
                  <c:v>Household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17.5</c:v>
                </c:pt>
                <c:pt idx="1">
                  <c:v>5.0999999999999996</c:v>
                </c:pt>
                <c:pt idx="2">
                  <c:v>3.4</c:v>
                </c:pt>
                <c:pt idx="3">
                  <c:v>2.5</c:v>
                </c:pt>
                <c:pt idx="4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D4-4600-9177-F80E15A066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Walmart</c:v>
                </c:pt>
              </c:strCache>
            </c:strRef>
          </c:tx>
          <c:spPr>
            <a:solidFill>
              <a:srgbClr val="FFC22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Meat</c:v>
                </c:pt>
                <c:pt idx="1">
                  <c:v>Dairy</c:v>
                </c:pt>
                <c:pt idx="2">
                  <c:v>Pantry</c:v>
                </c:pt>
                <c:pt idx="3">
                  <c:v>Produce</c:v>
                </c:pt>
                <c:pt idx="4">
                  <c:v>Household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</c:v>
                </c:pt>
                <c:pt idx="1">
                  <c:v>8.1</c:v>
                </c:pt>
                <c:pt idx="2">
                  <c:v>3.2</c:v>
                </c:pt>
                <c:pt idx="3">
                  <c:v>3.9</c:v>
                </c:pt>
                <c:pt idx="4">
                  <c:v>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D4-4600-9177-F80E15A066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2237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A896">
              <a:alpha val="8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GROCER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Price Analysis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Aldi · Publix · Walmart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4114800" cy="27432"/>
          </a:xfrm>
          <a:prstGeom prst="rect">
            <a:avLst/>
          </a:prstGeom>
          <a:solidFill>
            <a:srgbClr val="475569">
              <a:alpha val="50000"/>
            </a:srgbClr>
          </a:solidFill>
          <a:ln w="12700">
            <a:solidFill>
              <a:srgbClr val="4755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3 – Mar 11, 2026  ·  37 collection days  ·  12 grocery items  ·  1,258 observations</a:t>
            </a: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F09A74D-E7A3-B95E-5CFA-91F70406C689}"/>
              </a:ext>
            </a:extLst>
          </p:cNvPr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Ellie Burton · Capstone in Data Science · Spring 2026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2618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" y="1719072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daily grocery price scraper and perform rigorous statistical analysis across three major grocery retailers present in Tuscaloosa.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18688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18688" y="1143000"/>
            <a:ext cx="2743200" cy="64008"/>
          </a:xfrm>
          <a:prstGeom prst="rect">
            <a:avLst/>
          </a:prstGeom>
          <a:solidFill>
            <a:srgbClr val="00529B"/>
          </a:solidFill>
          <a:ln w="12700">
            <a:solidFill>
              <a:srgbClr val="005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2618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719072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1,332 raw rows scraped daily via automation over 37 sequential dates.</a:t>
            </a:r>
          </a:p>
          <a:p>
            <a:pPr marL="0" indent="0">
              <a:buNone/>
            </a:pPr>
            <a:endParaRPr lang="en-US" sz="13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Items: Bananas, Chicken Breast, Dish Soap, Gala Apples, Ground Beef 80/20, Iceberg Lettuce, Large Eggs, Salted Butter, Spaghetti Pasta, Tomato Sauce, White Bread, Whole Milk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63056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63056" y="1143000"/>
            <a:ext cx="2743200" cy="64008"/>
          </a:xfrm>
          <a:prstGeom prst="rect">
            <a:avLst/>
          </a:prstGeom>
          <a:solidFill>
            <a:srgbClr val="3B8132"/>
          </a:solidFill>
          <a:ln w="12700">
            <a:solidFill>
              <a:srgbClr val="3B8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27648" y="12618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27648" y="1719072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there a significant difference in mean basket cost between retailers?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Does the retailer effect remain consistent across product categories?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Which products &amp; retailers exhibit the highest price volatility?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there a day-of-week effect on grocery prices?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Can total cost be minimized by splitting a basket across stores?</a:t>
            </a:r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2809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4709160"/>
            <a:ext cx="8686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 &amp; Cleaning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7548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115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35331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 scraping from Aldi, Publix, and Walmart storefronts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8406" y="1600200"/>
            <a:ext cx="0" cy="237744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856232"/>
            <a:ext cx="47548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856232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Parsing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11226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extraction from messy strings like "Current price: $3.99". 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8406" y="2359152"/>
            <a:ext cx="0" cy="237744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615184"/>
            <a:ext cx="47548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615184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633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Normalization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87121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Gallons→128 oz, Pounds→16 oz, Dozens→12 count.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8406" y="3118104"/>
            <a:ext cx="0" cy="237744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374136"/>
            <a:ext cx="47548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374136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3924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Classification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6301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Store-brand prefixes → Private. All others → National.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8406" y="3877056"/>
            <a:ext cx="0" cy="237744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4133088"/>
            <a:ext cx="47548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13308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151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 QA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389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Fuzzy-match score between query and returned product name. Rows below 0.5 threshold flagged.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Imputation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18372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rows flagged as unit_uncertain — all from Publix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6844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dropping these rows (which would give Publix an 11-item basket while others keep 12, artificially deflating Publix's cost), two imputations were made: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511058"/>
              </p:ext>
            </p:extLst>
          </p:nvPr>
        </p:nvGraphicFramePr>
        <p:xfrm>
          <a:off x="365760" y="2251420"/>
          <a:ext cx="8412480" cy="1097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Imputed 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Milk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oz (1 gal)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product Walmart lists as '128 fl oz'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Iceberg Lettuce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count (1 head)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Aldi's '1 each' listing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4858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after imputation: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3805900"/>
            <a:ext cx="2560320" cy="914400"/>
          </a:xfrm>
          <a:prstGeom prst="rect">
            <a:avLst/>
          </a:prstGeom>
          <a:solidFill>
            <a:srgbClr val="F4F6FB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3805900"/>
            <a:ext cx="64008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0352" y="39156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30352" y="43362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excluded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063240" y="3805900"/>
            <a:ext cx="2834640" cy="914400"/>
          </a:xfrm>
          <a:prstGeom prst="rect">
            <a:avLst/>
          </a:prstGeom>
          <a:solidFill>
            <a:srgbClr val="F4F6FB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063240" y="3805900"/>
            <a:ext cx="64008" cy="914400"/>
          </a:xfrm>
          <a:prstGeom prst="rect">
            <a:avLst/>
          </a:prstGeom>
          <a:solidFill>
            <a:srgbClr val="3B8132"/>
          </a:solidFill>
          <a:ln w="12700">
            <a:solidFill>
              <a:srgbClr val="3B8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27832" y="39156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444 / store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227832" y="43362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items × 37 dates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3805900"/>
            <a:ext cx="2743200" cy="914400"/>
          </a:xfrm>
          <a:prstGeom prst="rect">
            <a:avLst/>
          </a:prstGeom>
          <a:solidFill>
            <a:srgbClr val="F4F6FB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035040" y="3805900"/>
            <a:ext cx="64008" cy="914400"/>
          </a:xfrm>
          <a:prstGeom prst="rect">
            <a:avLst/>
          </a:prstGeom>
          <a:solidFill>
            <a:srgbClr val="00529B"/>
          </a:solidFill>
          <a:ln w="12700">
            <a:solidFill>
              <a:srgbClr val="005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199632" y="39156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199632" y="43362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unit_uncertain rows remaining</a:t>
            </a:r>
            <a:endParaRPr lang="en-US" sz="110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D5227A9B-5135-68D7-0A03-366155A6D44C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12771234-A43C-9E17-C1A9-841A9FF2E8F6}"/>
              </a:ext>
            </a:extLst>
          </p:cNvPr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Imputation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Analysis: Basket Costs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solidFill>
            <a:srgbClr val="00529B"/>
          </a:solidFill>
          <a:ln w="12700">
            <a:solidFill>
              <a:srgbClr val="005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14300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Aldi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9164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$33.16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84048" y="239572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basket cost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69748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±$0.34  std dev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301752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mean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09728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097280"/>
            <a:ext cx="2743200" cy="502920"/>
          </a:xfrm>
          <a:prstGeom prst="rect">
            <a:avLst/>
          </a:prstGeom>
          <a:solidFill>
            <a:srgbClr val="3B8132"/>
          </a:solidFill>
          <a:ln w="12700">
            <a:solidFill>
              <a:srgbClr val="3B8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28416" y="114300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28416" y="169164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$32.99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28416" y="239572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basket cost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8416" y="269748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±$0.65  std dev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28416" y="301752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variable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09728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63056" y="1097280"/>
            <a:ext cx="2743200" cy="502920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72784" y="114300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Walmart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72784" y="169164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$32.95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72784" y="239572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basket cost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72784" y="269748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±$0.47  std dev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72784" y="301752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mean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429000"/>
            <a:ext cx="85953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429000"/>
            <a:ext cx="64008" cy="1481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5021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379476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retailers cluster within a surprisingly narrow $0.21 range on mean basket cost ($32.95–$33.16). However, this headline similarity masks significant item-level divergence — particularly in Meat and Dairy, where inter-store gaps exceed $5.50 per category. The Friedman test confirms the differences are statistically significant (p &lt; 0.001).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RCBD Analysis: Retailer Effect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1887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Methodology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" y="1655064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6550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Normality 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W=0.9369, p=0.0001 → NOT normal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432304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432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377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Levene's Variance Test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651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F=2.9983, p=0.054 → Variances OK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3209544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3209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154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fallback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429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Rank Sum Test selected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" y="3986784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3986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comparisons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206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+ Bonferroni correction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078992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1078992"/>
            <a:ext cx="416052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73752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73752" y="1581912"/>
            <a:ext cx="3840480" cy="914400"/>
          </a:xfrm>
          <a:prstGeom prst="rect">
            <a:avLst/>
          </a:prstGeom>
          <a:solidFill>
            <a:srgbClr val="F5F5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1645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Test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17.08   p = 0.000195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0" y="22128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Significant at α = 0.05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73752" y="2606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Pairwise (Bonferroni)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73752" y="2907792"/>
          <a:ext cx="3840480" cy="15361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Diff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Aldi vs Publix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Aldi vs Walmart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Publix vs Walmart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+$0.04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4873752" y="2907792"/>
            <a:ext cx="3840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873752" y="29077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ComparisonMean DiffSig.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× Retailer Interaction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test repeated within each category — retailer effect is significant across ALL five categories (p &lt; 0.001).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508760"/>
          <a:ext cx="54864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508760"/>
            <a:ext cx="2880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89320" y="1508760"/>
            <a:ext cx="28803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44768" y="161848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Category Insights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44768" y="1938528"/>
            <a:ext cx="64008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91072" y="195681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91072" y="21854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spread: $5.58 between retailers. Publix Chicken Breast averages $9.43 vs Aldi at $5.37.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44768" y="2688336"/>
            <a:ext cx="64008" cy="566928"/>
          </a:xfrm>
          <a:prstGeom prst="rect">
            <a:avLst/>
          </a:prstGeom>
          <a:solidFill>
            <a:srgbClr val="00529B"/>
          </a:solidFill>
          <a:ln w="12700">
            <a:solidFill>
              <a:srgbClr val="005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91072" y="270662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91072" y="293522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Aldi $10/day vs Publix $5.10 — driven by whole milk and butter price positioning.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44768" y="3438144"/>
            <a:ext cx="64008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91072" y="34564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91072" y="36850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price volatility by CV. Tomato sauce saw –43% decline at Publix.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44768" y="4187952"/>
            <a:ext cx="64008" cy="5669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91072" y="42062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91072" y="4434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price-stable category overall. Dish soap CV &lt; 3% at all retailers.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Volatility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Variation (CV = std/mean) measures relative price stability across items and retailers.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44752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2743200" cy="6400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53619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107.2%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4048" y="23591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volatile overall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1444752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444752"/>
            <a:ext cx="2743200" cy="64008"/>
          </a:xfrm>
          <a:prstGeom prst="rect">
            <a:avLst/>
          </a:prstGeom>
          <a:solidFill>
            <a:srgbClr val="3B8132"/>
          </a:solidFill>
          <a:ln w="12700">
            <a:solidFill>
              <a:srgbClr val="3B8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28416" y="153619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28416" y="182880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1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91.7%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28416" y="23591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volatility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3056" y="1444752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63056" y="1444752"/>
            <a:ext cx="2743200" cy="64008"/>
          </a:xfrm>
          <a:prstGeom prst="rect">
            <a:avLst/>
          </a:prstGeom>
          <a:solidFill>
            <a:srgbClr val="00529B"/>
          </a:solidFill>
          <a:ln w="12700">
            <a:solidFill>
              <a:srgbClr val="005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72784" y="153619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72784" y="182880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5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72.4%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72784" y="23591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price-stable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5029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5029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30358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by Category &amp; Retailer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37560"/>
          <a:ext cx="5029200" cy="1645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Walmart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74320" y="3337560"/>
            <a:ext cx="5029200" cy="274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38912" y="33375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        Aldi        Publix      Walmart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532120" y="2926080"/>
            <a:ext cx="33375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532120" y="2926080"/>
            <a:ext cx="333756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687568" y="3035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Types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687568" y="33832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Noise: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small jitter (Bananas CV 13.6%, 79 direction changes). Prices oscillate in a narrow band.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687568" y="413308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Shift: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jumps (Salted Butter at Publix –37.2% total; Tomato Sauce –43.1%). Low direction changes, large single jump.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Day-of-Week Effect &amp; Brand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207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Effect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" y="1572768"/>
            <a:ext cx="3840480" cy="777240"/>
          </a:xfrm>
          <a:prstGeom prst="rect">
            <a:avLst/>
          </a:prstGeom>
          <a:solidFill>
            <a:srgbClr val="F5F5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Test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856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0.30   p = 0.9995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1579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significant at α = 0.05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450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Per-store results: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" y="2761488"/>
            <a:ext cx="64008" cy="292608"/>
          </a:xfrm>
          <a:prstGeom prst="rect">
            <a:avLst/>
          </a:prstGeom>
          <a:solidFill>
            <a:srgbClr val="00529B"/>
          </a:solidFill>
          <a:ln w="12700">
            <a:solidFill>
              <a:srgbClr val="005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761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Aldi:  H = 1.260   p = 0.9738   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" y="3200400"/>
            <a:ext cx="64008" cy="292608"/>
          </a:xfrm>
          <a:prstGeom prst="rect">
            <a:avLst/>
          </a:prstGeom>
          <a:solidFill>
            <a:srgbClr val="3B8132"/>
          </a:solidFill>
          <a:ln w="12700">
            <a:solidFill>
              <a:srgbClr val="3B8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200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Publix:  H = 0.934   p = 0.9880   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" y="3639312"/>
            <a:ext cx="64008" cy="29260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639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Walmart:  H = 1.695   p = 0.9455   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" y="4187952"/>
            <a:ext cx="3840480" cy="59436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4224528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prices in this dataset do not vary systematically by day of week — there is no "cheapest day" to shop.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109728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1097280"/>
            <a:ext cx="416052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73752" y="1207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Brand vs. National Brand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73752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73752" y="1865376"/>
            <a:ext cx="549737" cy="27432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23489" y="1865376"/>
            <a:ext cx="2742103" cy="274320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73752" y="2157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16.7%  /  National 83.3%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73752" y="23225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National (via Instacart names)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73752" y="2532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73752" y="2825496"/>
            <a:ext cx="2633472" cy="27432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507224" y="2825496"/>
            <a:ext cx="658368" cy="274320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73752" y="31181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80%  /  National 20%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73752" y="32826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Private labels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73752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73752" y="3785616"/>
            <a:ext cx="3291840" cy="274320"/>
          </a:xfrm>
          <a:prstGeom prst="rect">
            <a:avLst/>
          </a:prstGeom>
          <a:solidFill>
            <a:srgbClr val="DD8452"/>
          </a:solidFill>
          <a:ln w="12700">
            <a:solidFill>
              <a:srgbClr val="DD8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73752" y="40782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0%  /  National 100%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73752" y="42428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National in this dataset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73752" y="4206240"/>
            <a:ext cx="3840480" cy="566928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83480" y="423367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Caveat: Private-label items appear costlier only because they come primarily from Publix (priciest store) — this is a store effect, not a true brand premium.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Multi-Store Optimization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shoppers save by cherry-picking the cheapest item from each store instead of shopping at one retailer?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8595360" cy="14447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$6.20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389120" y="166420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savings from split-basket shopping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buying everything at the single cheapest store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0" y="2487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single-day savings: $7.12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0906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(split) basket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3136392"/>
            <a:ext cx="349369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22694" y="30906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$26.35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3547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store (Walmart)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3593592"/>
            <a:ext cx="4368775" cy="256032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97775" y="3547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$32.95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40050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Aldi full basket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4050792"/>
            <a:ext cx="4396618" cy="256032"/>
          </a:xfrm>
          <a:prstGeom prst="rect">
            <a:avLst/>
          </a:prstGeom>
          <a:solidFill>
            <a:srgbClr val="00529B"/>
          </a:solidFill>
          <a:ln w="12700">
            <a:solidFill>
              <a:srgbClr val="005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25618" y="40050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$33.16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4622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Publix full basket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4507992"/>
            <a:ext cx="4374078" cy="256032"/>
          </a:xfrm>
          <a:prstGeom prst="rect">
            <a:avLst/>
          </a:prstGeom>
          <a:solidFill>
            <a:srgbClr val="3B8132"/>
          </a:solidFill>
          <a:ln w="12700">
            <a:solidFill>
              <a:srgbClr val="3B8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03078" y="44622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$32.99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818888"/>
            <a:ext cx="8595360" cy="182880"/>
          </a:xfrm>
          <a:prstGeom prst="rect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81888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Savings assume the consumer can visit all three retailers — real-world feasibility depends on geography and time cost.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Trend Forecasting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92608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9260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188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Trend R² Summary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572768"/>
            <a:ext cx="2606040" cy="475488"/>
          </a:xfrm>
          <a:prstGeom prst="rect">
            <a:avLst/>
          </a:prstGeom>
          <a:solidFill>
            <a:srgbClr val="F5F5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922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" y="2139696"/>
            <a:ext cx="2606040" cy="475488"/>
          </a:xfrm>
          <a:prstGeom prst="rect">
            <a:avLst/>
          </a:prstGeom>
          <a:solidFill>
            <a:srgbClr val="F5F5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176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59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" y="2706624"/>
            <a:ext cx="2606040" cy="475488"/>
          </a:xfrm>
          <a:prstGeom prst="rect">
            <a:avLst/>
          </a:prstGeom>
          <a:solidFill>
            <a:srgbClr val="F5F5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" y="3273552"/>
            <a:ext cx="2606040" cy="475488"/>
          </a:xfrm>
          <a:prstGeom prst="rect">
            <a:avLst/>
          </a:prstGeom>
          <a:solidFill>
            <a:srgbClr val="F5F5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310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&lt; 0.05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4930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" y="38404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grocery prices follow step-function patterns — flat for days or weeks, then a discrete jump — rather than smooth linear drift.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1078992"/>
            <a:ext cx="548640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29000" y="1078992"/>
            <a:ext cx="54864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93592" y="118872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Price Trends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93592" y="157276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Fastest Rising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93592" y="1892808"/>
            <a:ext cx="5029200" cy="310896"/>
          </a:xfrm>
          <a:prstGeom prst="rect">
            <a:avLst/>
          </a:prstGeom>
          <a:solidFill>
            <a:srgbClr val="F5F5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0" y="19293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Breast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0" y="1929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1929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+10.0%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406640" y="19293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R²=0.70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93592" y="2258568"/>
            <a:ext cx="5029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0" y="2295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 Apples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0" y="22951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22951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+23.1%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406640" y="22951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93592" y="2624328"/>
            <a:ext cx="5029200" cy="310896"/>
          </a:xfrm>
          <a:prstGeom prst="rect">
            <a:avLst/>
          </a:prstGeom>
          <a:solidFill>
            <a:srgbClr val="F5F5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0" y="26609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Beef 80/20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0" y="26609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26609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+5.7%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406640" y="2660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R²=0.68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593592" y="3017520"/>
            <a:ext cx="5029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593592" y="309067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Fastest Falling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593592" y="3410712"/>
            <a:ext cx="5029200" cy="310896"/>
          </a:xfrm>
          <a:prstGeom prst="rect">
            <a:avLst/>
          </a:prstGeom>
          <a:solidFill>
            <a:srgbClr val="F5F5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0" y="34472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 Butter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669280" y="34472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Publix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0" y="34472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–37.2%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406640" y="34472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R²=0.70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593592" y="3776472"/>
            <a:ext cx="5029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0" y="3813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Sauce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669280" y="38130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Publix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83680" y="38130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–43.1%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406640" y="38130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R²=0.07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593592" y="4142232"/>
            <a:ext cx="5029200" cy="310896"/>
          </a:xfrm>
          <a:prstGeom prst="rect">
            <a:avLst/>
          </a:prstGeom>
          <a:solidFill>
            <a:srgbClr val="F5F5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57600" y="4178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Breast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669280" y="41788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Aldi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83680" y="41788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7406640" y="4178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R²=0.30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of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64008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Retailer Effect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(Friedman χ²=17.08, p&lt;0.001). Aldi $33.16, Publix $32.99, Walmart $32.95 — only Aldi vs Walmart difference holds post-hoc.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078992"/>
            <a:ext cx="64008" cy="12618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170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Category Interaction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effect is significant in ALL 5 categories. Meat has the largest spread ($5.58). Line patterns cross between stores, confirming no single cheapest retailer for all goods.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5059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450592"/>
            <a:ext cx="64008" cy="1261872"/>
          </a:xfrm>
          <a:prstGeom prst="rect">
            <a:avLst/>
          </a:prstGeom>
          <a:solidFill>
            <a:srgbClr val="00529B"/>
          </a:solidFill>
          <a:ln w="12700">
            <a:solidFill>
              <a:srgbClr val="005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5420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Price Volatility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most volatile overall (CV 107%). Produce most volatile by category; Household most stable. All top volatile items classified as measurement noise, not structural shifts.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45059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450592"/>
            <a:ext cx="64008" cy="1261872"/>
          </a:xfrm>
          <a:prstGeom prst="rect">
            <a:avLst/>
          </a:prstGeom>
          <a:solidFill>
            <a:srgbClr val="3B8132"/>
          </a:solidFill>
          <a:ln w="12700">
            <a:solidFill>
              <a:srgbClr val="3B8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5420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Day-of-Week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83464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(H=0.30, p=0.9995). There is no cheapest day to shop at any of the three retailers.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82219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822192"/>
            <a:ext cx="640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9136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Multi-Store Savings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Split-basket shopping saves an average of $6.20/day vs. the best single store, with a max of $7.12. Walmart wins most items most often.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82219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822192"/>
            <a:ext cx="64008" cy="12618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39136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Forecasting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20624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prices (20/34) have R² &lt; 0.05 — groceries follow step-function pricing, not linear trends. Change-point detection or ARIMA would improve future forecasts.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5486400" cy="5486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57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retailers are within $0.21 of each other on total basket cost — but category-level divergences are dramatic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414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 is the highest-leverage category for savvy shoppers — a $5.58 spread per grocery trip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statistically meaningful day-of-week pricing effect across any retailer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4472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Split-basket optimization yields ~$6.20/day savings; Walmart wins most individual items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502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prices are step-functions, not trends — future modeling should use change-point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Feb 3 – Mar 11, 2026  ·  Aldi · Publix · Walmart  ·  12 items  ·  1,258 observations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1469</Words>
  <Application>Microsoft Office PowerPoint</Application>
  <PresentationFormat>On-screen Show (16:9)</PresentationFormat>
  <Paragraphs>267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Grocer: Statistical Analysis</dc:title>
  <dc:subject>PptxGenJS Presentation</dc:subject>
  <dc:creator>PptxGenJS</dc:creator>
  <cp:lastModifiedBy>Ellie Burton</cp:lastModifiedBy>
  <cp:revision>3</cp:revision>
  <dcterms:created xsi:type="dcterms:W3CDTF">2026-04-14T20:53:01Z</dcterms:created>
  <dcterms:modified xsi:type="dcterms:W3CDTF">2026-04-15T19:23:43Z</dcterms:modified>
</cp:coreProperties>
</file>